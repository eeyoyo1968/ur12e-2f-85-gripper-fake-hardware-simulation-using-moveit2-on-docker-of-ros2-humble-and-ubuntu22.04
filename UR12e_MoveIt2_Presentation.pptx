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slid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B5627F2-206E-45B6-BD66-A06742C0C85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2524BA-8BB0-4CBE-91B0-AC3DC0E827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513837-B001-4538-8BFA-BE0B180503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95FD2C-DC56-4D5F-899F-520B3114785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63AF80-827C-4AF9-9878-69F611362B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6F55B8-D775-46BA-A33D-E64C92D4097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E94778-C7BE-4B4C-ACAC-AB32741B3A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DF1909-6B79-4D0B-A860-268091B09D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63C51B-9650-4686-A256-858A720F1FB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734AFE-5121-47FB-8269-486540E4E7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660DF6-3CB7-428E-A99D-83C5E2CAF1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6D1024-4959-46A7-A5BC-9BBF2D5F25F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9269C5-447D-40D4-AF47-6B8DED927A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457200" y="6400800"/>
            <a:ext cx="8229600" cy="360"/>
          </a:xfrm>
          <a:prstGeom prst="line">
            <a:avLst/>
          </a:prstGeom>
          <a:ln w="381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Text 1"/>
          <p:cNvSpPr/>
          <p:nvPr/>
        </p:nvSpPr>
        <p:spPr>
          <a:xfrm>
            <a:off x="822960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4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UR12e Robotic Workcell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457200" y="2651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2c39a"/>
                </a:solidFill>
                <a:latin typeface="Calibri"/>
              </a:rPr>
              <a:t>MoveIt2 Integration &amp; Hardware-in-the-Loop Control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457200" y="5486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f5f5f5"/>
                </a:solidFill>
                <a:latin typeface="Calibri"/>
              </a:rPr>
              <a:t>ROS2 Humble • Universal Robots UR12e • Robotiq 2F-85 Gripper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System Overview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57200" y="1371600"/>
            <a:ext cx="41144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r>
              <a:rPr b="1" lang="en-US" sz="2000" spc="-1" strike="noStrike">
                <a:solidFill>
                  <a:srgbClr val="028090"/>
                </a:solidFill>
                <a:latin typeface="Calibri"/>
              </a:rPr>
              <a:t>Complete Robotic Workcell</a:t>
            </a:r>
            <a:endParaRPr b="0" lang="en-US" sz="2000" spc="-1" strike="noStrike">
              <a:latin typeface="Arial"/>
            </a:endParaRPr>
          </a:p>
          <a:p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UR12e 6-DOF Robot Arm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Robotiq 2F-85 Adaptive Gripper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Intel RealSense Depth Cameras (2x)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Complete Scene Modeling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12121"/>
                </a:solidFill>
                <a:latin typeface="Calibri"/>
              </a:rPr>
              <a:t>Hardware-in-the-Loop Capable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5029560" y="1143000"/>
            <a:ext cx="3657240" cy="36572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3"/>
          <p:cNvSpPr/>
          <p:nvPr/>
        </p:nvSpPr>
        <p:spPr>
          <a:xfrm>
            <a:off x="5212440" y="13258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Technical Specifications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5212440" y="1874520"/>
            <a:ext cx="32914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ROS2 Humble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Ubuntu 24.04 LTS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MoveIt2 Motion Planning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Docker Containerized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URSim Integration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Action Server Architecture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System Architecture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914760" y="1143360"/>
            <a:ext cx="7314840" cy="91404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2"/>
          <p:cNvSpPr/>
          <p:nvPr/>
        </p:nvSpPr>
        <p:spPr>
          <a:xfrm>
            <a:off x="1097640" y="1234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Application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097640" y="1554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Motion Planning Scripts  •  Vision-Guided Grasping  •  Pick-and-Place Operations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914400" y="2057400"/>
            <a:ext cx="7314840" cy="91404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5"/>
          <p:cNvSpPr/>
          <p:nvPr/>
        </p:nvSpPr>
        <p:spPr>
          <a:xfrm>
            <a:off x="1097280" y="21488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Planning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1097280" y="24688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MoveIt2 Framework  •  OMPL Path Planning  •  Collision Detection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914400" y="2971800"/>
            <a:ext cx="7314840" cy="914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8"/>
          <p:cNvSpPr/>
          <p:nvPr/>
        </p:nvSpPr>
        <p:spPr>
          <a:xfrm>
            <a:off x="1097280" y="3063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Control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1097280" y="33832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ros2_control Framework  •  Joint Trajectory Controller  •  Action Server Bridge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914400" y="3886560"/>
            <a:ext cx="7314840" cy="914040"/>
          </a:xfrm>
          <a:prstGeom prst="rect">
            <a:avLst/>
          </a:prstGeom>
          <a:solidFill>
            <a:srgbClr val="014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1"/>
          <p:cNvSpPr/>
          <p:nvPr/>
        </p:nvSpPr>
        <p:spPr>
          <a:xfrm>
            <a:off x="1097280" y="39780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Hardware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1097280" y="4298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UR12e Robot (RTDE)  •  Robotiq Gripper (URCap)  •  RealSense Cameras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MoveIt2 Integration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457200" y="1371600"/>
            <a:ext cx="41144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r>
              <a:rPr b="1" lang="en-US" sz="2000" spc="-1" strike="noStrike">
                <a:solidFill>
                  <a:srgbClr val="028090"/>
                </a:solidFill>
                <a:latin typeface="Calibri"/>
              </a:rPr>
              <a:t>Motion Planning Features</a:t>
            </a:r>
            <a:endParaRPr b="0" lang="en-US" sz="2000" spc="-1" strike="noStrike">
              <a:latin typeface="Arial"/>
            </a:endParaRPr>
          </a:p>
          <a:p>
            <a:endParaRPr b="0" lang="en-US" sz="20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212121"/>
                </a:solidFill>
                <a:latin typeface="Calibri"/>
              </a:rPr>
              <a:t>OMPL Planning Pipeline</a:t>
            </a:r>
            <a:endParaRPr b="0" lang="en-US" sz="14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Multiple planners: RRT, PRM, EST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Optimized path generation</a:t>
            </a:r>
            <a:endParaRPr b="0" lang="en-US" sz="1200" spc="-1" strike="noStrike">
              <a:latin typeface="Arial"/>
            </a:endParaRPr>
          </a:p>
          <a:p>
            <a:endParaRPr b="0" lang="en-US" sz="12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212121"/>
                </a:solidFill>
                <a:latin typeface="Calibri"/>
              </a:rPr>
              <a:t>Collision Avoidance</a:t>
            </a:r>
            <a:endParaRPr b="0" lang="en-US" sz="14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Complete scene modeling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Real-time collision checking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Safe trajectory execution</a:t>
            </a:r>
            <a:endParaRPr b="0" lang="en-US" sz="1200" spc="-1" strike="noStrike">
              <a:latin typeface="Arial"/>
            </a:endParaRPr>
          </a:p>
          <a:p>
            <a:endParaRPr b="0" lang="en-US" sz="12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212121"/>
                </a:solidFill>
                <a:latin typeface="Calibri"/>
              </a:rPr>
              <a:t>Kinematics &amp; Dynamics</a:t>
            </a:r>
            <a:endParaRPr b="0" lang="en-US" sz="14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Forward/inverse kinematics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Robot-specific calibration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Velocity/acceleration limits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5258160" y="1006200"/>
            <a:ext cx="3657240" cy="20113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3"/>
          <p:cNvSpPr/>
          <p:nvPr/>
        </p:nvSpPr>
        <p:spPr>
          <a:xfrm>
            <a:off x="5441040" y="11890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Planning Groups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441040" y="164628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r>
              <a:rPr b="1" lang="en-US" sz="1400" spc="-1" strike="noStrike">
                <a:solidFill>
                  <a:srgbClr val="212121"/>
                </a:solidFill>
                <a:latin typeface="Calibri"/>
              </a:rPr>
              <a:t>ur_manipulator</a:t>
            </a:r>
            <a:endParaRPr b="0" lang="en-US" sz="14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6-DOF arm control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212121"/>
                </a:solidFill>
                <a:latin typeface="Calibri"/>
              </a:rPr>
              <a:t>gripper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Adaptive gripper control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5258160" y="3292200"/>
            <a:ext cx="3657240" cy="17370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6"/>
          <p:cNvSpPr/>
          <p:nvPr/>
        </p:nvSpPr>
        <p:spPr>
          <a:xfrm>
            <a:off x="5441040" y="34750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Active Controllers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5441040" y="393228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12121"/>
                </a:solidFill>
                <a:latin typeface="Calibri"/>
              </a:rPr>
              <a:t>joint_state_broadcaster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12121"/>
                </a:solidFill>
                <a:latin typeface="Calibri"/>
              </a:rPr>
              <a:t>scaled_joint_trajectory_controller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12121"/>
                </a:solidFill>
                <a:latin typeface="Calibri"/>
              </a:rPr>
              <a:t>robotiq_gripper_controller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Hardware-in-the-Loop Architecture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457200" y="1188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28090"/>
                </a:solidFill>
                <a:latin typeface="Calibri"/>
              </a:rPr>
              <a:t>Key Innovation: Action Server Bridge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685800" y="1554840"/>
            <a:ext cx="2468520" cy="210276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3"/>
          <p:cNvSpPr/>
          <p:nvPr/>
        </p:nvSpPr>
        <p:spPr>
          <a:xfrm>
            <a:off x="868680" y="18291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Simulation Mode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868680" y="21949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URSim + Fake Hardware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960120" y="2652120"/>
            <a:ext cx="1919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URSim Robot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Mock Gripper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Safe Testing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Docker Based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429000" y="1554840"/>
            <a:ext cx="2468520" cy="210276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7"/>
          <p:cNvSpPr/>
          <p:nvPr/>
        </p:nvSpPr>
        <p:spPr>
          <a:xfrm>
            <a:off x="3611880" y="18291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Hybrid Mode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3611880" y="21949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Real UR12e + Fake Gripper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3703320" y="2652120"/>
            <a:ext cx="1919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External Control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Action Server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Real Motions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Simulated Grasp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6172200" y="1554840"/>
            <a:ext cx="2468520" cy="2102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1"/>
          <p:cNvSpPr/>
          <p:nvPr/>
        </p:nvSpPr>
        <p:spPr>
          <a:xfrm>
            <a:off x="6355080" y="18291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Production Mode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6355080" y="21949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Real UR12e + Real Gripper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6446520" y="2652120"/>
            <a:ext cx="1919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Full Hardware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URCap Bridge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Production Ready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Force Feedback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457560" y="3886200"/>
            <a:ext cx="8229240" cy="5482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5"/>
          <p:cNvSpPr/>
          <p:nvPr/>
        </p:nvSpPr>
        <p:spPr>
          <a:xfrm>
            <a:off x="640440" y="40233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1414a"/>
                </a:solidFill>
                <a:latin typeface="Calibri"/>
              </a:rPr>
              <a:t>✓ </a:t>
            </a:r>
            <a:r>
              <a:rPr b="1" lang="en-US" sz="1400" spc="-1" strike="noStrike">
                <a:solidFill>
                  <a:srgbClr val="01414a"/>
                </a:solidFill>
                <a:latin typeface="Calibri"/>
              </a:rPr>
              <a:t>Same Code Works in All Modes • Zero Modifications to Universal Robots Packages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457200" y="137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1414a"/>
                </a:solidFill>
                <a:latin typeface="Calibri"/>
              </a:rPr>
              <a:t>Action Server Bridge Architecture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2286000" y="685800"/>
            <a:ext cx="4571640" cy="5482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2"/>
          <p:cNvSpPr/>
          <p:nvPr/>
        </p:nvSpPr>
        <p:spPr>
          <a:xfrm>
            <a:off x="2468880" y="7772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1414a"/>
                </a:solidFill>
                <a:latin typeface="Calibri"/>
              </a:rPr>
              <a:t>ROS2 Motion Script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4297680" y="1280160"/>
            <a:ext cx="54828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4"/>
          <p:cNvSpPr/>
          <p:nvPr/>
        </p:nvSpPr>
        <p:spPr>
          <a:xfrm>
            <a:off x="2286000" y="1417320"/>
            <a:ext cx="4571640" cy="5482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2468880" y="15087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1414a"/>
                </a:solidFill>
                <a:latin typeface="Calibri"/>
              </a:rPr>
              <a:t>FollowJointTrajectory Action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4297680" y="2011680"/>
            <a:ext cx="54828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7"/>
          <p:cNvSpPr/>
          <p:nvPr/>
        </p:nvSpPr>
        <p:spPr>
          <a:xfrm>
            <a:off x="2286000" y="2148840"/>
            <a:ext cx="4571640" cy="54828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8"/>
          <p:cNvSpPr/>
          <p:nvPr/>
        </p:nvSpPr>
        <p:spPr>
          <a:xfrm>
            <a:off x="2468880" y="22402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Action Server Bridge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4297680" y="2743200"/>
            <a:ext cx="54828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10"/>
          <p:cNvSpPr/>
          <p:nvPr/>
        </p:nvSpPr>
        <p:spPr>
          <a:xfrm>
            <a:off x="2286000" y="2880360"/>
            <a:ext cx="4571640" cy="5482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1"/>
          <p:cNvSpPr/>
          <p:nvPr/>
        </p:nvSpPr>
        <p:spPr>
          <a:xfrm>
            <a:off x="2468880" y="29718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1414a"/>
                </a:solidFill>
                <a:latin typeface="Calibri"/>
              </a:rPr>
              <a:t>URScript Commands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4297680" y="3474720"/>
            <a:ext cx="54828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13"/>
          <p:cNvSpPr/>
          <p:nvPr/>
        </p:nvSpPr>
        <p:spPr>
          <a:xfrm>
            <a:off x="2286000" y="3611880"/>
            <a:ext cx="4571640" cy="5482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4"/>
          <p:cNvSpPr/>
          <p:nvPr/>
        </p:nvSpPr>
        <p:spPr>
          <a:xfrm>
            <a:off x="2468880" y="37033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1414a"/>
                </a:solidFill>
                <a:latin typeface="Calibri"/>
              </a:rPr>
              <a:t>UR Controller + URCap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4297680" y="4206240"/>
            <a:ext cx="54828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16"/>
          <p:cNvSpPr/>
          <p:nvPr/>
        </p:nvSpPr>
        <p:spPr>
          <a:xfrm>
            <a:off x="2286000" y="4343400"/>
            <a:ext cx="4571640" cy="5482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7"/>
          <p:cNvSpPr/>
          <p:nvPr/>
        </p:nvSpPr>
        <p:spPr>
          <a:xfrm>
            <a:off x="2468880" y="44348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1414a"/>
                </a:solidFill>
                <a:latin typeface="Calibri"/>
              </a:rPr>
              <a:t>Physical Gripper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Shape 18"/>
          <p:cNvSpPr/>
          <p:nvPr/>
        </p:nvSpPr>
        <p:spPr>
          <a:xfrm>
            <a:off x="457560" y="5029200"/>
            <a:ext cx="8229240" cy="82260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9"/>
          <p:cNvSpPr/>
          <p:nvPr/>
        </p:nvSpPr>
        <p:spPr>
          <a:xfrm>
            <a:off x="640440" y="52120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Benefits: Clean Separation • Testable Components • Hardware Agnostic • Production Ready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Key Achievements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2" name="Shape 1"/>
          <p:cNvSpPr/>
          <p:nvPr/>
        </p:nvSpPr>
        <p:spPr>
          <a:xfrm>
            <a:off x="548640" y="100548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381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2"/>
          <p:cNvSpPr/>
          <p:nvPr/>
        </p:nvSpPr>
        <p:spPr>
          <a:xfrm>
            <a:off x="731520" y="127980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3"/>
          <p:cNvSpPr/>
          <p:nvPr/>
        </p:nvSpPr>
        <p:spPr>
          <a:xfrm>
            <a:off x="731520" y="1279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463040" y="12798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Clean Integration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1463040" y="16455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Zero modifications to Universal Robots packages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4846320" y="100548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381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7"/>
          <p:cNvSpPr/>
          <p:nvPr/>
        </p:nvSpPr>
        <p:spPr>
          <a:xfrm>
            <a:off x="5029200" y="1279800"/>
            <a:ext cx="548280" cy="5482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8"/>
          <p:cNvSpPr/>
          <p:nvPr/>
        </p:nvSpPr>
        <p:spPr>
          <a:xfrm>
            <a:off x="5029200" y="1279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760720" y="12798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Dual Control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760720" y="16455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URSim simulation + Real hardware support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548640" y="237708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2"/>
          <p:cNvSpPr/>
          <p:nvPr/>
        </p:nvSpPr>
        <p:spPr>
          <a:xfrm>
            <a:off x="731520" y="2651400"/>
            <a:ext cx="548280" cy="5482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3"/>
          <p:cNvSpPr/>
          <p:nvPr/>
        </p:nvSpPr>
        <p:spPr>
          <a:xfrm>
            <a:off x="731520" y="26514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1463040" y="26514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Action Server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1463040" y="30171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Novel gripper control architecture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7" name="Shape 16"/>
          <p:cNvSpPr/>
          <p:nvPr/>
        </p:nvSpPr>
        <p:spPr>
          <a:xfrm>
            <a:off x="4846320" y="237708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381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17"/>
          <p:cNvSpPr/>
          <p:nvPr/>
        </p:nvSpPr>
        <p:spPr>
          <a:xfrm>
            <a:off x="5029200" y="265140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8"/>
          <p:cNvSpPr/>
          <p:nvPr/>
        </p:nvSpPr>
        <p:spPr>
          <a:xfrm>
            <a:off x="5029200" y="26514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5760720" y="26514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Network Isolation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5760720" y="30171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ROS_DOMAIN_ID for multi-robot setups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2" name="Shape 21"/>
          <p:cNvSpPr/>
          <p:nvPr/>
        </p:nvSpPr>
        <p:spPr>
          <a:xfrm>
            <a:off x="548640" y="372636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381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22"/>
          <p:cNvSpPr/>
          <p:nvPr/>
        </p:nvSpPr>
        <p:spPr>
          <a:xfrm>
            <a:off x="731520" y="4000680"/>
            <a:ext cx="548280" cy="5482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23"/>
          <p:cNvSpPr/>
          <p:nvPr/>
        </p:nvSpPr>
        <p:spPr>
          <a:xfrm>
            <a:off x="731520" y="4000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1463040" y="4000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Docker Ready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1463040" y="43664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Complete containerized simulation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7" name="Shape 26"/>
          <p:cNvSpPr/>
          <p:nvPr/>
        </p:nvSpPr>
        <p:spPr>
          <a:xfrm>
            <a:off x="4846320" y="372636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27"/>
          <p:cNvSpPr/>
          <p:nvPr/>
        </p:nvSpPr>
        <p:spPr>
          <a:xfrm>
            <a:off x="5029200" y="4000680"/>
            <a:ext cx="548280" cy="5482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8"/>
          <p:cNvSpPr/>
          <p:nvPr/>
        </p:nvSpPr>
        <p:spPr>
          <a:xfrm>
            <a:off x="5029200" y="4000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0" name="Text 29"/>
          <p:cNvSpPr/>
          <p:nvPr/>
        </p:nvSpPr>
        <p:spPr>
          <a:xfrm>
            <a:off x="5760720" y="4000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Production Tested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1" name="Text 30"/>
          <p:cNvSpPr/>
          <p:nvPr/>
        </p:nvSpPr>
        <p:spPr>
          <a:xfrm>
            <a:off x="5760720" y="43664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Validated with real UR12e hardware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Technical Implementation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457200" y="9144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libri"/>
              </a:rPr>
              <a:t>Core Components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solidFill>
            <a:srgbClr val="f8f8f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3"/>
          <p:cNvSpPr/>
          <p:nvPr/>
        </p:nvSpPr>
        <p:spPr>
          <a:xfrm>
            <a:off x="640080" y="1554480"/>
            <a:ext cx="347436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r>
              <a:rPr b="1" lang="en-US" sz="1300" spc="-1" strike="noStrike">
                <a:solidFill>
                  <a:srgbClr val="212121"/>
                </a:solidFill>
                <a:latin typeface="Calibri"/>
              </a:rPr>
              <a:t>Package Structure</a:t>
            </a:r>
            <a:endParaRPr b="0" lang="en-US" sz="1300" spc="-1" strike="noStrike">
              <a:latin typeface="Arial"/>
            </a:endParaRPr>
          </a:p>
          <a:p>
            <a:endParaRPr b="0" lang="en-US" sz="13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212121"/>
                </a:solidFill>
                <a:latin typeface="Consolas"/>
                <a:ea typeface="Consolas"/>
              </a:rPr>
              <a:t>my_ur_description/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├──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urdf/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│   └──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ur_system.xacro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├──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config/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│   ├──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ur_controllers.yaml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│   └──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moveit_config/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├──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launch/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│   └──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my_robot.launch.py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└──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scripts/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    ├──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robotiq_ursim_bridge.py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    └── </a:t>
            </a:r>
            <a:r>
              <a:rPr b="0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robotiq_real_gripper.py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4572000" y="914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libri"/>
              </a:rPr>
              <a:t>Key Configuration Files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4572000" y="1371600"/>
            <a:ext cx="4114440" cy="914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6"/>
          <p:cNvSpPr/>
          <p:nvPr/>
        </p:nvSpPr>
        <p:spPr>
          <a:xfrm>
            <a:off x="4754880" y="15087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1414a"/>
                </a:solidFill>
                <a:latin typeface="Consolas"/>
                <a:ea typeface="Consolas"/>
              </a:rPr>
              <a:t>ur_system.xacro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4754880" y="1828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Complete robot description with scene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4572000" y="2286360"/>
            <a:ext cx="4114440" cy="914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9"/>
          <p:cNvSpPr/>
          <p:nvPr/>
        </p:nvSpPr>
        <p:spPr>
          <a:xfrm>
            <a:off x="4754880" y="24235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1414a"/>
                </a:solidFill>
                <a:latin typeface="Consolas"/>
                <a:ea typeface="Consolas"/>
              </a:rPr>
              <a:t>ur_controllers.yaml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4754880" y="27435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Real &amp; fake hardware configurations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4572000" y="3200760"/>
            <a:ext cx="4114440" cy="914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2"/>
          <p:cNvSpPr/>
          <p:nvPr/>
        </p:nvSpPr>
        <p:spPr>
          <a:xfrm>
            <a:off x="4754880" y="33379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1414a"/>
                </a:solidFill>
                <a:latin typeface="Consolas"/>
                <a:ea typeface="Consolas"/>
              </a:rPr>
              <a:t>moveit_config/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4754880" y="36579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Planning groups &amp; kinematics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4572000" y="4115160"/>
            <a:ext cx="4114440" cy="914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5"/>
          <p:cNvSpPr/>
          <p:nvPr/>
        </p:nvSpPr>
        <p:spPr>
          <a:xfrm>
            <a:off x="4754880" y="42523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1414a"/>
                </a:solidFill>
                <a:latin typeface="Consolas"/>
                <a:ea typeface="Consolas"/>
              </a:rPr>
              <a:t>docker-compose.yaml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4754880" y="45723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URSim containerization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Development Workflow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685800" y="1005480"/>
            <a:ext cx="639720" cy="639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"/>
          <p:cNvSpPr/>
          <p:nvPr/>
        </p:nvSpPr>
        <p:spPr>
          <a:xfrm>
            <a:off x="685800" y="10054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1600200" y="1005480"/>
            <a:ext cx="7040520" cy="13712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4"/>
          <p:cNvSpPr/>
          <p:nvPr/>
        </p:nvSpPr>
        <p:spPr>
          <a:xfrm>
            <a:off x="1783080" y="1142640"/>
            <a:ext cx="6674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URSim Simulation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1783080" y="1554120"/>
            <a:ext cx="6674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Develop motion planning  • Test collision avoidance  • Validate trajectories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1005840" y="1691280"/>
            <a:ext cx="360" cy="868680"/>
          </a:xfrm>
          <a:prstGeom prst="line">
            <a:avLst/>
          </a:prstGeom>
          <a:ln w="38100">
            <a:solidFill>
              <a:srgbClr val="00a89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7"/>
          <p:cNvSpPr/>
          <p:nvPr/>
        </p:nvSpPr>
        <p:spPr>
          <a:xfrm>
            <a:off x="685800" y="2651400"/>
            <a:ext cx="639720" cy="6397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8"/>
          <p:cNvSpPr/>
          <p:nvPr/>
        </p:nvSpPr>
        <p:spPr>
          <a:xfrm>
            <a:off x="685800" y="2651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1600200" y="2376720"/>
            <a:ext cx="7040520" cy="13712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10"/>
          <p:cNvSpPr/>
          <p:nvPr/>
        </p:nvSpPr>
        <p:spPr>
          <a:xfrm>
            <a:off x="1783080" y="2513880"/>
            <a:ext cx="6674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Hybrid Testing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1783080" y="2925360"/>
            <a:ext cx="6674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Connect real UR12e  • Fake gripper control  • Hardware validation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1" name="Shape 12"/>
          <p:cNvSpPr/>
          <p:nvPr/>
        </p:nvSpPr>
        <p:spPr>
          <a:xfrm>
            <a:off x="1005840" y="3337200"/>
            <a:ext cx="360" cy="868680"/>
          </a:xfrm>
          <a:prstGeom prst="line">
            <a:avLst/>
          </a:prstGeom>
          <a:ln w="38100">
            <a:solidFill>
              <a:srgbClr val="00a89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Shape 13"/>
          <p:cNvSpPr/>
          <p:nvPr/>
        </p:nvSpPr>
        <p:spPr>
          <a:xfrm>
            <a:off x="685800" y="4297320"/>
            <a:ext cx="639720" cy="6397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4"/>
          <p:cNvSpPr/>
          <p:nvPr/>
        </p:nvSpPr>
        <p:spPr>
          <a:xfrm>
            <a:off x="685800" y="42973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1600200" y="3772440"/>
            <a:ext cx="7040520" cy="13712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16"/>
          <p:cNvSpPr/>
          <p:nvPr/>
        </p:nvSpPr>
        <p:spPr>
          <a:xfrm>
            <a:off x="1783080" y="3909600"/>
            <a:ext cx="6674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Full Integration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1783080" y="4321080"/>
            <a:ext cx="6674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Add real gripper  • Production testing  • Vision integration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Results &amp; Metrics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640080" y="1554480"/>
            <a:ext cx="3840120" cy="1828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822960" y="182880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100%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822960" y="25603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UR Package Integrity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822960" y="29260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c39a"/>
                </a:solidFill>
                <a:latin typeface="Calibri"/>
              </a:rPr>
              <a:t>Zero modifications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4937760" y="1554480"/>
            <a:ext cx="3840120" cy="1828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6"/>
          <p:cNvSpPr/>
          <p:nvPr/>
        </p:nvSpPr>
        <p:spPr>
          <a:xfrm>
            <a:off x="5120640" y="182880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5120640" y="25603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Control Modes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5120640" y="29260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c39a"/>
                </a:solidFill>
                <a:latin typeface="Calibri"/>
              </a:rPr>
              <a:t>Sim • Hybrid • Production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640080" y="3657600"/>
            <a:ext cx="3840120" cy="1828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0"/>
          <p:cNvSpPr/>
          <p:nvPr/>
        </p:nvSpPr>
        <p:spPr>
          <a:xfrm>
            <a:off x="822960" y="393192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&lt;5ms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822960" y="46634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Control Loop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822960" y="50292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c39a"/>
                </a:solidFill>
                <a:latin typeface="Calibri"/>
              </a:rPr>
              <a:t>Real-time performance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4937760" y="3657600"/>
            <a:ext cx="3840120" cy="1828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4"/>
          <p:cNvSpPr/>
          <p:nvPr/>
        </p:nvSpPr>
        <p:spPr>
          <a:xfrm>
            <a:off x="5120640" y="393192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6-DOF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5120640" y="46634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Motion Planning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5120640" y="50292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c39a"/>
                </a:solidFill>
                <a:latin typeface="Calibri"/>
              </a:rPr>
              <a:t>+ 1-DOF gripper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1414a"/>
                </a:solidFill>
                <a:latin typeface="Calibri"/>
              </a:rPr>
              <a:t>Future Work &amp; Enhancements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640080" y="1554480"/>
            <a:ext cx="3840120" cy="1828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"/>
          <p:cNvSpPr/>
          <p:nvPr/>
        </p:nvSpPr>
        <p:spPr>
          <a:xfrm>
            <a:off x="914400" y="17373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👁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1645920" y="178308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Vision-Guided Grasping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914400" y="237744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YOLOv8 object detection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RealSense depth integration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Pose estimation pipeline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9" name="Shape 5"/>
          <p:cNvSpPr/>
          <p:nvPr/>
        </p:nvSpPr>
        <p:spPr>
          <a:xfrm>
            <a:off x="4937760" y="1554480"/>
            <a:ext cx="3840120" cy="1828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6"/>
          <p:cNvSpPr/>
          <p:nvPr/>
        </p:nvSpPr>
        <p:spPr>
          <a:xfrm>
            <a:off x="5212080" y="17373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5943600" y="178308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Force Control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5212080" y="237744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Force/torque sensing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Compliant manipulation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Contact detection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640080" y="3657600"/>
            <a:ext cx="3840120" cy="1828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0"/>
          <p:cNvSpPr/>
          <p:nvPr/>
        </p:nvSpPr>
        <p:spPr>
          <a:xfrm>
            <a:off x="914400" y="384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🤖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1645920" y="388620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Multi-Robot Coordination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914400" y="448056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ROS_DOMAIN_ID isolation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Coordinated motions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Shared workspace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7" name="Shape 13"/>
          <p:cNvSpPr/>
          <p:nvPr/>
        </p:nvSpPr>
        <p:spPr>
          <a:xfrm>
            <a:off x="4937760" y="3657600"/>
            <a:ext cx="3840120" cy="1828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14"/>
          <p:cNvSpPr/>
          <p:nvPr/>
        </p:nvSpPr>
        <p:spPr>
          <a:xfrm>
            <a:off x="5212080" y="384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🎯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5943600" y="388620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1414a"/>
                </a:solidFill>
                <a:latin typeface="Calibri"/>
              </a:rPr>
              <a:t>Advanced Planning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5212080" y="448056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Dynamic re-planning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Obstacle avoidance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Optimization metrics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4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57200" y="22860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57200" y="3108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2c39a"/>
                </a:solidFill>
                <a:latin typeface="Calibri"/>
              </a:rPr>
              <a:t>Questions &amp; Discussion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3" name="Text 2"/>
          <p:cNvSpPr/>
          <p:nvPr/>
        </p:nvSpPr>
        <p:spPr>
          <a:xfrm>
            <a:off x="685800" y="38862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f5f5f5"/>
                </a:solidFill>
                <a:latin typeface="Calibri"/>
              </a:rPr>
              <a:t>Repository: </a:t>
            </a:r>
            <a:r>
              <a:rPr b="0" lang="en-US" sz="1400" spc="-1" strike="noStrike">
                <a:solidFill>
                  <a:srgbClr val="02c39a"/>
                </a:solidFill>
                <a:latin typeface="Calibri"/>
              </a:rPr>
              <a:t>github.com/your-repo/my_ur_description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f5f5f5"/>
                </a:solidFill>
                <a:latin typeface="Calibri"/>
              </a:rPr>
              <a:t>Tag: </a:t>
            </a:r>
            <a:r>
              <a:rPr b="0" lang="en-US" sz="1400" spc="-1" strike="noStrike">
                <a:solidFill>
                  <a:srgbClr val="02c39a"/>
                </a:solidFill>
                <a:latin typeface="Calibri"/>
              </a:rPr>
              <a:t>v1.1.8_2f-85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</a:rPr>
              <a:t>Branch: </a:t>
            </a:r>
            <a:r>
              <a:rPr b="0" lang="en-US" sz="1400" spc="-1" strike="noStrike">
                <a:solidFill>
                  <a:srgbClr val="02c39a"/>
                </a:solidFill>
                <a:latin typeface="Calibri"/>
              </a:rPr>
              <a:t>ur12e_2f-85_action_server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2026-02-17T01:57:21Z</dcterms:created>
  <dc:creator>PptxGenJS</dc:creator>
  <dc:description/>
  <dc:language>en-US</dc:language>
  <cp:lastModifiedBy/>
  <dcterms:modified xsi:type="dcterms:W3CDTF">2026-02-17T09:49:41Z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