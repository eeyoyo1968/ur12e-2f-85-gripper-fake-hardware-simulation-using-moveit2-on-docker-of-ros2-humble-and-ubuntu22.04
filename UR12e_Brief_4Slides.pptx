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6858000"/>
          </a:xfrm>
          <a:prstGeom prst="rect">
            <a:avLst/>
          </a:prstGeom>
          <a:solidFill>
            <a:srgbClr val="012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UR12e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Workcell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MoveIt2 Integration &amp;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114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108960"/>
            <a:ext cx="1920240" cy="41148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108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ROS2 Humble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3108960"/>
            <a:ext cx="1920240" cy="41148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108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Ubuntu 24.04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92024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3703320"/>
            <a:ext cx="1920240" cy="411480"/>
          </a:xfrm>
          <a:prstGeom prst="roundRect">
            <a:avLst/>
          </a:prstGeom>
          <a:solidFill>
            <a:srgbClr val="8338EC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MoveIt2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System Components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66360" y="1005840"/>
            <a:ext cx="3657600" cy="914400"/>
          </a:xfrm>
          <a:prstGeom prst="roundRect">
            <a:avLst/>
          </a:prstGeom>
          <a:solidFill>
            <a:srgbClr val="013D49"/>
          </a:solidFill>
          <a:ln w="12700">
            <a:solidFill>
              <a:srgbClr val="025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097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978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UR12e Robot Arm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97880" y="1444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6-DOF collaborative arm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2057400"/>
            <a:ext cx="3657600" cy="914400"/>
          </a:xfrm>
          <a:prstGeom prst="roundRect">
            <a:avLst/>
          </a:prstGeom>
          <a:solidFill>
            <a:srgbClr val="013D49"/>
          </a:solidFill>
          <a:ln w="12700">
            <a:solidFill>
              <a:srgbClr val="025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148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89788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Robotiq 2F-85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2496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Adaptive gripper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3108960"/>
            <a:ext cx="3657600" cy="914400"/>
          </a:xfrm>
          <a:prstGeom prst="roundRect">
            <a:avLst/>
          </a:prstGeom>
          <a:solidFill>
            <a:srgbClr val="013D49"/>
          </a:solidFill>
          <a:ln w="12700">
            <a:solidFill>
              <a:srgbClr val="025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2004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89788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Intel RealSense ×2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97880" y="3547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Depth cameras, scene modelled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4160520"/>
            <a:ext cx="3657600" cy="914400"/>
          </a:xfrm>
          <a:prstGeom prst="roundRect">
            <a:avLst/>
          </a:prstGeom>
          <a:solidFill>
            <a:srgbClr val="013D49"/>
          </a:solidFill>
          <a:ln w="12700">
            <a:solidFill>
              <a:srgbClr val="025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4251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89788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 Workcell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97880" y="4599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Desk, walls, full collision scene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66360" y="5212080"/>
            <a:ext cx="3657600" cy="914400"/>
          </a:xfrm>
          <a:prstGeom prst="roundRect">
            <a:avLst/>
          </a:prstGeom>
          <a:solidFill>
            <a:srgbClr val="013D49"/>
          </a:solidFill>
          <a:ln w="12700">
            <a:solidFill>
              <a:srgbClr val="025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53035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89788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 Server Bridge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97880" y="5650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Novel gripper architecture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1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&amp; Control Modes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2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System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206240" cy="68580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Motion Scripts  •  Pick &amp; Place  •  Vision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920240"/>
            <a:ext cx="365760" cy="9144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93392"/>
            <a:ext cx="420624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39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MoveIt2 Planning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OMPL  •  Collision Check  •  IK/FK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2679192"/>
            <a:ext cx="365760" cy="9144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52344"/>
            <a:ext cx="4206240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980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 Server Bridge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ros2_control  •  Trajectory Ctrl  •  Gripper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3502152"/>
            <a:ext cx="365760" cy="9144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575304"/>
            <a:ext cx="4206240" cy="685800"/>
          </a:xfrm>
          <a:prstGeom prst="rect">
            <a:avLst/>
          </a:prstGeom>
          <a:solidFill>
            <a:srgbClr val="0141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210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Hardware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UR12e (RTDE)  •  Robotiq (URCap)  •  RealSense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394960"/>
            <a:ext cx="4206240" cy="54864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504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14A"/>
                </a:solidFill>
              </a:rPr>
              <a:t>✓ Zero modifications to Universal Robots packages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Four Control Modes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37760" y="1234440"/>
            <a:ext cx="3931920" cy="932688"/>
          </a:xfrm>
          <a:prstGeom prst="roundRect">
            <a:avLst/>
          </a:prstGeom>
          <a:solidFill>
            <a:srgbClr val="F9C74F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1435608"/>
            <a:ext cx="502920" cy="502920"/>
          </a:xfrm>
          <a:prstGeom prst="ellipse">
            <a:avLst/>
          </a:prstGeom>
          <a:solidFill>
            <a:srgbClr val="01414A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1435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414A"/>
                </a:solidFill>
              </a:rPr>
              <a:t>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87568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14A"/>
                </a:solidFill>
              </a:rPr>
              <a:t>Pure Simulation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87568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414A"/>
                </a:solidFill>
              </a:rPr>
              <a:t>Robot: Fake UR12e   Gripper: Fake Gripper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286000"/>
            <a:ext cx="3931920" cy="93268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30" name="Shape 28"/>
          <p:cNvSpPr/>
          <p:nvPr/>
        </p:nvSpPr>
        <p:spPr>
          <a:xfrm>
            <a:off x="5074920" y="2487168"/>
            <a:ext cx="502920" cy="502920"/>
          </a:xfrm>
          <a:prstGeom prst="ellipse">
            <a:avLst/>
          </a:prstGeom>
          <a:solidFill>
            <a:srgbClr val="0141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87568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URSim + URCap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87568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Robot: URSim   Gripper: URCap Gripper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337560"/>
            <a:ext cx="3931920" cy="93268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5" name="Shape 33"/>
          <p:cNvSpPr/>
          <p:nvPr/>
        </p:nvSpPr>
        <p:spPr>
          <a:xfrm>
            <a:off x="5074920" y="3538728"/>
            <a:ext cx="502920" cy="502920"/>
          </a:xfrm>
          <a:prstGeom prst="ellipse">
            <a:avLst/>
          </a:prstGeom>
          <a:solidFill>
            <a:srgbClr val="0141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687568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Hybrid Mode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87568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Robot: Real UR12e   Gripper: Action Server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4389120"/>
            <a:ext cx="3931920" cy="93268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40" name="Shape 38"/>
          <p:cNvSpPr/>
          <p:nvPr/>
        </p:nvSpPr>
        <p:spPr>
          <a:xfrm>
            <a:off x="5074920" y="4590288"/>
            <a:ext cx="502920" cy="502920"/>
          </a:xfrm>
          <a:prstGeom prst="ellipse">
            <a:avLst/>
          </a:prstGeom>
          <a:solidFill>
            <a:srgbClr val="01414A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687568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Production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87568" y="4892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Robot: Real UR12e   Gripper: Real Gripper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37760" y="5394960"/>
            <a:ext cx="3931920" cy="548640"/>
          </a:xfrm>
          <a:prstGeom prst="rect">
            <a:avLst/>
          </a:prstGeom>
          <a:solidFill>
            <a:srgbClr val="01414A"/>
          </a:solidFill>
          <a:ln/>
        </p:spPr>
      </p:sp>
      <p:sp>
        <p:nvSpPr>
          <p:cNvPr id="45" name="Text 43"/>
          <p:cNvSpPr/>
          <p:nvPr/>
        </p:nvSpPr>
        <p:spPr>
          <a:xfrm>
            <a:off x="5120640" y="5504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Same code runs in ALL four modes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1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Technical Deep-Dive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3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Action Server Bridge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Key innovation for hardware-agnostic gripper control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114800" cy="502920"/>
          </a:xfrm>
          <a:prstGeom prst="roundRect">
            <a:avLst/>
          </a:prstGeom>
          <a:solidFill>
            <a:srgbClr val="8338E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Motion 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2011680"/>
            <a:ext cx="320040" cy="146304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76272"/>
            <a:ext cx="4114800" cy="50292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494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FollowJointTrajectory 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2706624"/>
            <a:ext cx="320040" cy="146304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871216"/>
            <a:ext cx="4114800" cy="5029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 Server Bridge  ← KEY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3401568"/>
            <a:ext cx="320040" cy="146304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566160"/>
            <a:ext cx="4114800" cy="50292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URScript to UR Controller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03120" y="4096512"/>
            <a:ext cx="320040" cy="146304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4261104"/>
            <a:ext cx="4114800" cy="502920"/>
          </a:xfrm>
          <a:prstGeom prst="roundRect">
            <a:avLst/>
          </a:prstGeom>
          <a:solidFill>
            <a:srgbClr val="0141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3342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Robotiq URCap → Gripper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MoveIt2 Configuration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1143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Complete planning setup for 7-DOF system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481328"/>
            <a:ext cx="4023360" cy="138988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572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14A"/>
                </a:solidFill>
              </a:rPr>
              <a:t>Planning Groups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1865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• ur_manipulator — 6-DOF arm (base_link → tool0)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167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• gripper — 2F-85 adaptive finger joint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962656"/>
            <a:ext cx="4023360" cy="1389888"/>
          </a:xfrm>
          <a:prstGeom prst="roundRect">
            <a:avLst/>
          </a:prstGeom>
          <a:solidFill>
            <a:srgbClr val="F0FA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054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14A"/>
                </a:solidFill>
              </a:rPr>
              <a:t>Controllers Active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• joint_state_broadcaster (continuous)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648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• scaled_joint_trajectory_controller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• robotiq_gripper_controller (action server)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4443984"/>
            <a:ext cx="4023360" cy="138988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5354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14A"/>
                </a:solidFill>
              </a:rPr>
              <a:t>URDF Architecture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• Fake hardware for gripper in URDF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5129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• Real control via external Action Server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5431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• generate_ros2_control_tag=false (UR macro)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5989320"/>
            <a:ext cx="9144000" cy="868680"/>
          </a:xfrm>
          <a:prstGeom prst="rect">
            <a:avLst/>
          </a:prstGeom>
          <a:solidFill>
            <a:srgbClr val="01414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035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100%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UR Package Integrity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94560" y="6035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4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19456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Control Modes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31920" y="6035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&lt;5ms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9319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RTDE Loop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0" y="6035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7-DOF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66928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Total Planning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06640" y="6035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v1.1.8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40664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Current Release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1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Highlights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4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Key Achievements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01168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61872"/>
            <a:ext cx="39776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5331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Zero modifications to UR packages — fully upstream-compatible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01168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011680"/>
            <a:ext cx="39776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Action Server Bridge — hardware-agnostic gripper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201168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61488"/>
            <a:ext cx="39776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52928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Four progressive control modes in a single codebase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11296"/>
            <a:ext cx="201168" cy="59436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511296"/>
            <a:ext cx="39776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02736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Complete workcell scene — full collision avoidance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61104"/>
            <a:ext cx="201168" cy="59436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261104"/>
            <a:ext cx="39776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35254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ROS_DOMAIN_ID isolation — production-safe networking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5010912"/>
            <a:ext cx="201168" cy="59436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5010912"/>
            <a:ext cx="39776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0235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Docker-containerised URSim — reproducible simulation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Roadmap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37760" y="1261872"/>
            <a:ext cx="3931920" cy="1078992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1389888"/>
            <a:ext cx="685800" cy="29260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138988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13533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14A"/>
                </a:solidFill>
              </a:rPr>
              <a:t>Vision-Guided Grasping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1792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YOLOv8 + RealSense D435 integration — colleague pipeline ready for integration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450592"/>
            <a:ext cx="3931920" cy="1078992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74920" y="2578608"/>
            <a:ext cx="685800" cy="29260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257860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5420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14A"/>
                </a:solidFill>
              </a:rPr>
              <a:t>Force Control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4920" y="29809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Gripper force feedback for compliant manipulation of fragile objects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639312"/>
            <a:ext cx="3931920" cy="1078992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74920" y="3767328"/>
            <a:ext cx="685800" cy="29260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376732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37307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14A"/>
                </a:solidFill>
              </a:rPr>
              <a:t>Multi-Robot Coordination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74920" y="41696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ROS_DOMAIN_ID per robot — isolated, coordinated workcells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4828032"/>
            <a:ext cx="3931920" cy="1078992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8338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74920" y="4956048"/>
            <a:ext cx="685800" cy="292608"/>
          </a:xfrm>
          <a:prstGeom prst="roundRect">
            <a:avLst/>
          </a:prstGeom>
          <a:solidFill>
            <a:srgbClr val="8338EC"/>
          </a:solidFill>
          <a:ln/>
        </p:spPr>
      </p:sp>
      <p:sp>
        <p:nvSpPr>
          <p:cNvPr id="42" name="Text 40"/>
          <p:cNvSpPr/>
          <p:nvPr/>
        </p:nvSpPr>
        <p:spPr>
          <a:xfrm>
            <a:off x="5074920" y="495604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R&amp;D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52160" y="49194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14A"/>
                </a:solidFill>
              </a:rPr>
              <a:t>Advanced Planning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7492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Dynamic replanning, trajectory optimisation, reinforcement learning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5989320"/>
            <a:ext cx="9144000" cy="868680"/>
          </a:xfrm>
          <a:prstGeom prst="rect">
            <a:avLst/>
          </a:prstGeom>
          <a:solidFill>
            <a:srgbClr val="01414A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6126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UR12e Workcell  •  v1.1.8_2f-85  •  Branch: ur12e_2f-85_action_server  •  ROS2 Humble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6126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2026-02-17T10:32:14Z</dcterms:created>
  <dcterms:modified xsi:type="dcterms:W3CDTF">2026-02-17T10:32:14Z</dcterms:modified>
</cp:coreProperties>
</file>